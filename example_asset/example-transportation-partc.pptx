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4095750" y="0"/>
            <a:ext cx="171450" cy="68580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Ellipse 5"/>
          <p:cNvSpPr/>
          <p:nvPr/>
        </p:nvSpPr>
        <p:spPr>
          <a:xfrm>
            <a:off x="1219200" y="600075"/>
            <a:ext cx="1181100" cy="11811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Ellipse 6"/>
          <p:cNvSpPr/>
          <p:nvPr/>
        </p:nvSpPr>
        <p:spPr>
          <a:xfrm>
            <a:off x="2171700" y="4476750"/>
            <a:ext cx="1714500" cy="17145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85800" y="636270"/>
            <a:ext cx="2049875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课题组学术汇报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389698"/>
            <a:ext cx="3346418" cy="10431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高铁对城际可达性的影响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2760345"/>
            <a:ext cx="3346418" cy="6042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多模式、 多尺度网络方法下的论文汇报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5830729"/>
            <a:ext cx="33464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Presenter: ____________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6135529"/>
            <a:ext cx="1086517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2026-05-20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4054" y="852012"/>
            <a:ext cx="943039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High-speed rail impacts on intercity accessibility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35830" y="1725930"/>
            <a:ext cx="77501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5C8A"/>
                </a:solidFill>
                <a:latin typeface="Arial"/>
                <a:ea typeface="Microsoft YaHei"/>
                <a:cs typeface="Arial"/>
              </a:rPr>
              <a:t>A multi-modal, multi-scalar networking approach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762500" y="2714625"/>
            <a:ext cx="6858000" cy="142875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 w="9525">
            <a:solidFill>
              <a:srgbClr val="DDE7E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5095875" y="2875598"/>
            <a:ext cx="6461093" cy="55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论文：Dai et al., Transportation Research Part C, 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5875" y="3334226"/>
            <a:ext cx="6461093" cy="2506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25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DOI: 10.1016/j.trc.2025.105006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95875" y="3597497"/>
            <a:ext cx="6461093" cy="4823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研究对象：关中平原城市群；核心问题： 高铁建设如何改变城际可达性，以及传统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762500" y="4762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FDFEFE"/>
          </a:solidFill>
          <a:ln w="9525">
            <a:solidFill>
              <a:srgbClr val="DDE7E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7143750" y="4762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FDFEFE"/>
          </a:solidFill>
          <a:ln w="9525">
            <a:solidFill>
              <a:srgbClr val="DDE7E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/>
          <p:nvPr/>
        </p:nvSpPr>
        <p:spPr>
          <a:xfrm>
            <a:off x="9525000" y="4762500"/>
            <a:ext cx="2095500" cy="876300"/>
          </a:xfrm>
          <a:prstGeom prst="roundRect">
            <a:avLst>
              <a:gd name="adj" fmla="val 6522"/>
            </a:avLst>
          </a:prstGeom>
          <a:solidFill>
            <a:srgbClr val="FDFEFE"/>
          </a:solidFill>
          <a:ln w="9525">
            <a:solidFill>
              <a:srgbClr val="DDE7E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5048250" y="4883468"/>
            <a:ext cx="951738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95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多模式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29500" y="4883468"/>
            <a:ext cx="951738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950" b="1" dirty="0">
                <a:solidFill>
                  <a:srgbClr val="0F7C7A"/>
                </a:solidFill>
                <a:latin typeface="Arial"/>
                <a:ea typeface="Microsoft YaHei"/>
                <a:cs typeface="Arial"/>
              </a:rPr>
              <a:t>多尺度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0750" y="4883468"/>
            <a:ext cx="1586198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9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可达性评价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48250" y="5214842"/>
            <a:ext cx="1746218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HSR / GR / Auto / PT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29500" y="5214842"/>
            <a:ext cx="1746218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城际网络 + 城市接驳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10750" y="5214842"/>
            <a:ext cx="1746218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人口机会 + 广义成本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317784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汇报框架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按论文流程展开：研究问题 → 数据与模型 → 技术路线 → 结果与启示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67686" y="65131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76300" y="1162050"/>
            <a:ext cx="10096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876300" y="1162050"/>
            <a:ext cx="876300" cy="685800"/>
          </a:xfrm>
          <a:prstGeom prst="roundRect">
            <a:avLst>
              <a:gd name="adj" fmla="val 8333"/>
            </a:avLst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190625" y="1340168"/>
            <a:ext cx="396240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5500" y="1236345"/>
            <a:ext cx="2049875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研究背景与缺口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95500" y="1558004"/>
            <a:ext cx="881376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为什么高铁可达性评价需要从单一铁路转向综合交通网络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76300" y="2038350"/>
            <a:ext cx="10096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/>
          <p:nvPr/>
        </p:nvSpPr>
        <p:spPr>
          <a:xfrm>
            <a:off x="876300" y="2038350"/>
            <a:ext cx="876300" cy="685800"/>
          </a:xfrm>
          <a:prstGeom prst="roundRect">
            <a:avLst>
              <a:gd name="adj" fmla="val 8333"/>
            </a:avLst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171384" y="2216468"/>
            <a:ext cx="396240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95500" y="2112645"/>
            <a:ext cx="2049875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数据与研究区域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95500" y="2434304"/>
            <a:ext cx="881376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关中平原城市群、90 个县区、交通阻抗与人口机会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76300" y="2914650"/>
            <a:ext cx="10096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5"/>
          <p:cNvSpPr/>
          <p:nvPr/>
        </p:nvSpPr>
        <p:spPr>
          <a:xfrm>
            <a:off x="876300" y="2914650"/>
            <a:ext cx="876300" cy="685800"/>
          </a:xfrm>
          <a:prstGeom prst="roundRect">
            <a:avLst>
              <a:gd name="adj" fmla="val 8333"/>
            </a:avLst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171384" y="3092768"/>
            <a:ext cx="396240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95500" y="2988945"/>
            <a:ext cx="2635568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模型原理与技术路线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95500" y="3310604"/>
            <a:ext cx="881376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广义成本、OD 阻抗矩阵、规则约束路径搜索、累计机会指标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76300" y="3790950"/>
            <a:ext cx="10096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876300" y="3790950"/>
            <a:ext cx="876300" cy="685800"/>
          </a:xfrm>
          <a:prstGeom prst="roundRect">
            <a:avLst>
              <a:gd name="adj" fmla="val 8333"/>
            </a:avLst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171384" y="3969068"/>
            <a:ext cx="396240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95500" y="3865245"/>
            <a:ext cx="1171384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结果证据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95500" y="4186904"/>
            <a:ext cx="881376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模式竞争、空间可达性、高铁贡献、传统方法偏差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76300" y="4667250"/>
            <a:ext cx="10096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5"/>
          <p:cNvSpPr/>
          <p:nvPr/>
        </p:nvSpPr>
        <p:spPr>
          <a:xfrm>
            <a:off x="876300" y="4667250"/>
            <a:ext cx="876300" cy="685800"/>
          </a:xfrm>
          <a:prstGeom prst="roundRect">
            <a:avLst>
              <a:gd name="adj" fmla="val 8333"/>
            </a:avLst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1171384" y="4845368"/>
            <a:ext cx="396240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95500" y="4741545"/>
            <a:ext cx="1756982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稳健性与讨论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95500" y="5063204"/>
            <a:ext cx="881376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VoTT 敏感性、人工标注验证、局限与应用价值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 Problem Definition: 高铁影响评价需要多模式视角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高铁网络扩张改变的不只是铁路时间，还包括城市接驳、模式竞争与区域机会可达性。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63492" y="651319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1 Problem Definition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" y="1447800"/>
            <a:ext cx="5095875" cy="295275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617345"/>
            <a:ext cx="5095875" cy="261366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6286500" y="1428750"/>
            <a:ext cx="4762500" cy="29527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6572250" y="1635919"/>
            <a:ext cx="3050381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75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可达性评价的规划含义</a:t>
            </a:r>
          </a:p>
        </p:txBody>
      </p:sp>
      <p:sp>
        <p:nvSpPr>
          <p:cNvPr id="18" name="Ellipse 18"/>
          <p:cNvSpPr/>
          <p:nvPr/>
        </p:nvSpPr>
        <p:spPr>
          <a:xfrm>
            <a:off x="6596062" y="221456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800850" y="2133600"/>
            <a:ext cx="4184618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可达性衡量一个地点通过交通网络接触人口、 就业等机会的能力。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6596062" y="286226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6800850" y="2781300"/>
            <a:ext cx="4184618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高铁建设通常被理解为缩短城际时间， 但真实出行还包含起讫端接驳与换乘。</a:t>
            </a:r>
          </a:p>
        </p:txBody>
      </p:sp>
      <p:sp>
        <p:nvSpPr>
          <p:cNvPr id="22" name="Ellipse 22"/>
          <p:cNvSpPr/>
          <p:nvPr/>
        </p:nvSpPr>
        <p:spPr>
          <a:xfrm>
            <a:off x="6596062" y="350996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800850" y="3429000"/>
            <a:ext cx="4184618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投资评价若只看单一铁路网络， 容易忽略不同交通方式之间的竞争与互补。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38200" y="4762500"/>
            <a:ext cx="23812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009650" y="4862512"/>
            <a:ext cx="1793653" cy="385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250" b="1" dirty="0">
                <a:solidFill>
                  <a:srgbClr val="1F5C8A"/>
                </a:solidFill>
                <a:latin typeface="Arial"/>
                <a:ea typeface="Microsoft YaHei"/>
                <a:cs typeface="Arial"/>
              </a:rPr>
              <a:t>44,500 km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9650" y="5167408"/>
            <a:ext cx="2146268" cy="4091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中国高铁运营里程， 论文引用 2023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476625" y="4762500"/>
            <a:ext cx="2381250" cy="877634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3648075" y="4826032"/>
            <a:ext cx="2146268" cy="750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250" b="1" dirty="0">
                <a:solidFill>
                  <a:srgbClr val="0F7C7A"/>
                </a:solidFill>
                <a:latin typeface="Arial"/>
                <a:ea typeface="Microsoft YaHei"/>
                <a:cs typeface="Arial"/>
              </a:rPr>
              <a:t>Location-based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48075" y="5316855"/>
            <a:ext cx="2146268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本文采用面向地点的可达性测度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115050" y="4762500"/>
            <a:ext cx="23812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6286500" y="4862512"/>
            <a:ext cx="677228" cy="385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2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CUM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86500" y="5316855"/>
            <a:ext cx="2146268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累计机会指标用于计算可达人口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753475" y="4762500"/>
            <a:ext cx="23812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8924925" y="4862512"/>
            <a:ext cx="1427607" cy="385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250" b="1" dirty="0">
                <a:solidFill>
                  <a:srgbClr val="4E8C45"/>
                </a:solidFill>
                <a:latin typeface="Arial"/>
                <a:ea typeface="Microsoft YaHei"/>
                <a:cs typeface="Arial"/>
              </a:rPr>
              <a:t>Planning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24925" y="5316855"/>
            <a:ext cx="2146268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服务于交通与土地利用投资评价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 Problem Definition: 传统 door-to-door 方法的三个缺口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既有研究常把城市接驳简化为开车到最近高铁站，难以捕捉真实的网络选择。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63492" y="651319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1 Problem Definition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1571625"/>
            <a:ext cx="3143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llipse 15"/>
          <p:cNvSpPr/>
          <p:nvPr/>
        </p:nvSpPr>
        <p:spPr>
          <a:xfrm>
            <a:off x="1038225" y="1819275"/>
            <a:ext cx="552450" cy="552450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195388" y="1931194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8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7300" y="2521268"/>
            <a:ext cx="1903476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95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网络范围偏窄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7300" y="3191351"/>
            <a:ext cx="2679668" cy="1177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只关注铁路或 HSR+Auto， 较少同时纳入 GR、 公路、公交、 地铁等层级。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476750" y="1571625"/>
            <a:ext cx="3143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Ellipse 20"/>
          <p:cNvSpPr/>
          <p:nvPr/>
        </p:nvSpPr>
        <p:spPr>
          <a:xfrm>
            <a:off x="4657725" y="1819275"/>
            <a:ext cx="552450" cy="552450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4814888" y="1931194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8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76800" y="2521268"/>
            <a:ext cx="1903476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95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接驳假设过强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76800" y="3191351"/>
            <a:ext cx="2679668" cy="9456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常假设起终点最近车站就是最优车站， 忽略跨站点和跨方式的可行组合。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1571625"/>
            <a:ext cx="3143250" cy="314325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Ellipse 25"/>
          <p:cNvSpPr/>
          <p:nvPr/>
        </p:nvSpPr>
        <p:spPr>
          <a:xfrm>
            <a:off x="8277225" y="1819275"/>
            <a:ext cx="552450" cy="552450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8434388" y="1931194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8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96300" y="2521268"/>
            <a:ext cx="1903476" cy="3360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95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换乘行为失真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96300" y="3191351"/>
            <a:ext cx="2679668" cy="4823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传统最短路会生成理论成本最低但现实不可行的频繁换乘路径。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76300" y="5191125"/>
            <a:ext cx="10096500" cy="666750"/>
          </a:xfrm>
          <a:prstGeom prst="roundRect">
            <a:avLst>
              <a:gd name="adj" fmla="val 8571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1190625" y="5371148"/>
            <a:ext cx="1342168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本文切入点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00777" y="5384330"/>
            <a:ext cx="8528018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 fontScale="92500"/>
          </a:bodyPr>
          <a:lstStyle/>
          <a:p>
            <a:r>
              <a:rPr lang="zh-CN" sz="160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构建多模式、多尺度城际可达性框架，</a:t>
            </a:r>
            <a:r>
              <a:rPr lang="zh-CN" altLang="en-US" sz="160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避免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错估高铁与普铁、驾车、公共交通之间的竞争和互补。</a:t>
            </a:r>
          </a:p>
          <a:p>
            <a:pPr algn="l"/>
            <a:endParaRPr lang="zh-CN" sz="1650" b="1" dirty="0">
              <a:solidFill>
                <a:srgbClr val="1F2933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 Data And Study Area: 关中平原城市群与多源数据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研究以 90 个县区为 OD 基础单元，综合交通阻抗、人口机会与迁徙强度数据。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91198" y="6513195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2 Data And Study Area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52450" y="1371600"/>
            <a:ext cx="4953000" cy="3000375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518285"/>
            <a:ext cx="4953000" cy="2707958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5857875" y="1371600"/>
            <a:ext cx="4953000" cy="3000375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1445895"/>
            <a:ext cx="4953000" cy="2852738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571500" y="4619625"/>
            <a:ext cx="1047750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Ellipse 19"/>
          <p:cNvSpPr/>
          <p:nvPr/>
        </p:nvSpPr>
        <p:spPr>
          <a:xfrm>
            <a:off x="881062" y="488156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085850" y="4830604"/>
            <a:ext cx="98996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空间单元：90 个县区，以县域质心作为起点和终点。</a:t>
            </a:r>
          </a:p>
        </p:txBody>
      </p:sp>
      <p:sp>
        <p:nvSpPr>
          <p:cNvPr id="21" name="Ellipse 21"/>
          <p:cNvSpPr/>
          <p:nvPr/>
        </p:nvSpPr>
        <p:spPr>
          <a:xfrm>
            <a:off x="881062" y="515778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085850" y="5106829"/>
            <a:ext cx="98996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交通阻抗：Amap 获取自驾/公交路径，12306 获取 HSR/GR 时间与票价。</a:t>
            </a:r>
          </a:p>
        </p:txBody>
      </p:sp>
      <p:sp>
        <p:nvSpPr>
          <p:cNvPr id="23" name="Ellipse 23"/>
          <p:cNvSpPr/>
          <p:nvPr/>
        </p:nvSpPr>
        <p:spPr>
          <a:xfrm>
            <a:off x="881062" y="54340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085850" y="5301329"/>
            <a:ext cx="98996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机会变量：人口作为累计机会测度中的目标机会；收入用于配置 VoTT。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 Method Framework: 可达性评价的基本计算逻辑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位置可达性的核心流程是：定义阻抗、构建 OD 阻抗矩阵、计算机会可达性。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7345" y="65131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2 Method Framework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666875"/>
            <a:ext cx="2762250" cy="233362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Ellipse 15"/>
          <p:cNvSpPr/>
          <p:nvPr/>
        </p:nvSpPr>
        <p:spPr>
          <a:xfrm>
            <a:off x="952500" y="1914525"/>
            <a:ext cx="647700" cy="647700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143000" y="2072640"/>
            <a:ext cx="426720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375" y="2702719"/>
            <a:ext cx="1830229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75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定义出行阻抗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5375" y="2820638"/>
            <a:ext cx="2365343" cy="1116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把时间、 费用和换乘等待转化为可比较的 generalized cost。</a:t>
            </a:r>
          </a:p>
        </p:txBody>
      </p:sp>
      <p:sp>
        <p:nvSpPr>
          <p:cNvPr id="19" name="Line 19"/>
          <p:cNvSpPr/>
          <p:nvPr/>
        </p:nvSpPr>
        <p:spPr>
          <a:xfrm>
            <a:off x="3619500" y="2857500"/>
            <a:ext cx="619125" cy="1"/>
          </a:xfrm>
          <a:prstGeom prst="line">
            <a:avLst/>
          </a:prstGeom>
          <a:noFill/>
          <a:ln w="28575">
            <a:solidFill>
              <a:srgbClr val="1F5C8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Polygon 20"/>
          <p:cNvSpPr/>
          <p:nvPr/>
        </p:nvSpPr>
        <p:spPr>
          <a:xfrm>
            <a:off x="4135755" y="2807970"/>
            <a:ext cx="102870" cy="99060"/>
          </a:xfrm>
          <a:custGeom>
            <a:avLst/>
            <a:gdLst/>
            <a:ahLst/>
            <a:cxnLst/>
            <a:rect l="l" t="t" r="r" b="b"/>
            <a:pathLst>
              <a:path w="102870" h="99060">
                <a:moveTo>
                  <a:pt x="102870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4476750" y="1666875"/>
            <a:ext cx="2762250" cy="233362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llipse 22"/>
          <p:cNvSpPr/>
          <p:nvPr/>
        </p:nvSpPr>
        <p:spPr>
          <a:xfrm>
            <a:off x="4667250" y="1914525"/>
            <a:ext cx="647700" cy="647700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4857750" y="2072640"/>
            <a:ext cx="426720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10125" y="2702719"/>
            <a:ext cx="1799749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75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构建 OD 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10125" y="3229928"/>
            <a:ext cx="2365343" cy="677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在多模式网络中为 90×89 个 OD 对寻找最低广义成本路径。</a:t>
            </a:r>
          </a:p>
        </p:txBody>
      </p:sp>
      <p:sp>
        <p:nvSpPr>
          <p:cNvPr id="26" name="Line 26"/>
          <p:cNvSpPr/>
          <p:nvPr/>
        </p:nvSpPr>
        <p:spPr>
          <a:xfrm>
            <a:off x="7334250" y="2857500"/>
            <a:ext cx="619125" cy="1"/>
          </a:xfrm>
          <a:prstGeom prst="line">
            <a:avLst/>
          </a:prstGeom>
          <a:noFill/>
          <a:ln w="28575">
            <a:solidFill>
              <a:srgbClr val="1F5C8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Polygon 27"/>
          <p:cNvSpPr/>
          <p:nvPr/>
        </p:nvSpPr>
        <p:spPr>
          <a:xfrm>
            <a:off x="7850505" y="2807970"/>
            <a:ext cx="102870" cy="99060"/>
          </a:xfrm>
          <a:custGeom>
            <a:avLst/>
            <a:gdLst/>
            <a:ahLst/>
            <a:cxnLst/>
            <a:rect l="l" t="t" r="r" b="b"/>
            <a:pathLst>
              <a:path w="102870" h="99060">
                <a:moveTo>
                  <a:pt x="102870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28"/>
          <p:cNvSpPr/>
          <p:nvPr/>
        </p:nvSpPr>
        <p:spPr>
          <a:xfrm>
            <a:off x="8191500" y="1666875"/>
            <a:ext cx="2762250" cy="233362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Ellipse 29"/>
          <p:cNvSpPr/>
          <p:nvPr/>
        </p:nvSpPr>
        <p:spPr>
          <a:xfrm>
            <a:off x="8382000" y="1914525"/>
            <a:ext cx="647700" cy="647700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572500" y="2072640"/>
            <a:ext cx="426720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24875" y="2702719"/>
            <a:ext cx="1830229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75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计算可达人口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24875" y="3229928"/>
            <a:ext cx="2365343" cy="677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在不同成本阈值下累计可达目的地人口， 并做成本加权。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57250" y="4476750"/>
            <a:ext cx="9906000" cy="1000125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1143000" y="4646771"/>
            <a:ext cx="1964436" cy="299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论文的关键增强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7500" y="4676775"/>
            <a:ext cx="7842218" cy="506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传统框架仍是可达性三步法；本文把第二步的网络配置做细， 并用规则约束让最短路径既“成本最小”又“行为可行”。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Research Pipeline: 全文研究流程与核心输入输出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从多源数据到多模式网络，再到规则约束路径搜索和 HSR 影响评估。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79923" y="6513195"/>
            <a:ext cx="12321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3 Research Pipeline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524000"/>
            <a:ext cx="2381250" cy="3143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523875" y="1524000"/>
            <a:ext cx="2381250" cy="495300"/>
          </a:xfrm>
          <a:prstGeom prst="roundRect">
            <a:avLst>
              <a:gd name="adj" fmla="val 11538"/>
            </a:avLst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274445" y="1627822"/>
            <a:ext cx="107375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7" name="Ellipse 17"/>
          <p:cNvSpPr/>
          <p:nvPr/>
        </p:nvSpPr>
        <p:spPr>
          <a:xfrm>
            <a:off x="744855" y="2316480"/>
            <a:ext cx="91440" cy="91440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952500" y="2268855"/>
            <a:ext cx="1589722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行政边界/县域质心</a:t>
            </a:r>
          </a:p>
        </p:txBody>
      </p:sp>
      <p:sp>
        <p:nvSpPr>
          <p:cNvPr id="19" name="Ellipse 19"/>
          <p:cNvSpPr/>
          <p:nvPr/>
        </p:nvSpPr>
        <p:spPr>
          <a:xfrm>
            <a:off x="744855" y="2830830"/>
            <a:ext cx="91440" cy="91440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952500" y="2783205"/>
            <a:ext cx="1245680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Amap 路径数据</a:t>
            </a:r>
          </a:p>
        </p:txBody>
      </p:sp>
      <p:sp>
        <p:nvSpPr>
          <p:cNvPr id="21" name="Ellipse 21"/>
          <p:cNvSpPr/>
          <p:nvPr/>
        </p:nvSpPr>
        <p:spPr>
          <a:xfrm>
            <a:off x="744855" y="3345180"/>
            <a:ext cx="91440" cy="91440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952500" y="3297555"/>
            <a:ext cx="1301496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铁路时刻与票价</a:t>
            </a:r>
          </a:p>
        </p:txBody>
      </p:sp>
      <p:sp>
        <p:nvSpPr>
          <p:cNvPr id="23" name="Ellipse 23"/>
          <p:cNvSpPr/>
          <p:nvPr/>
        </p:nvSpPr>
        <p:spPr>
          <a:xfrm>
            <a:off x="744855" y="3859530"/>
            <a:ext cx="91440" cy="91440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952500" y="3811905"/>
            <a:ext cx="1691926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人口/收入/迁徙数据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381375" y="1524000"/>
            <a:ext cx="2381250" cy="3143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3381375" y="1524000"/>
            <a:ext cx="2381250" cy="495300"/>
          </a:xfrm>
          <a:prstGeom prst="roundRect">
            <a:avLst>
              <a:gd name="adj" fmla="val 11538"/>
            </a:avLst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4131945" y="1627822"/>
            <a:ext cx="107375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网络构建</a:t>
            </a:r>
          </a:p>
        </p:txBody>
      </p:sp>
      <p:sp>
        <p:nvSpPr>
          <p:cNvPr id="28" name="Ellipse 28"/>
          <p:cNvSpPr/>
          <p:nvPr/>
        </p:nvSpPr>
        <p:spPr>
          <a:xfrm>
            <a:off x="3602355" y="2316480"/>
            <a:ext cx="91440" cy="91440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3810000" y="2268855"/>
            <a:ext cx="1691926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城市道路/公交/地铁</a:t>
            </a:r>
          </a:p>
        </p:txBody>
      </p:sp>
      <p:sp>
        <p:nvSpPr>
          <p:cNvPr id="30" name="Ellipse 30"/>
          <p:cNvSpPr/>
          <p:nvPr/>
        </p:nvSpPr>
        <p:spPr>
          <a:xfrm>
            <a:off x="3602355" y="2830830"/>
            <a:ext cx="91440" cy="91440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3810000" y="2783205"/>
            <a:ext cx="1217866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高速/普通铁路</a:t>
            </a:r>
          </a:p>
        </p:txBody>
      </p:sp>
      <p:sp>
        <p:nvSpPr>
          <p:cNvPr id="32" name="Ellipse 32"/>
          <p:cNvSpPr/>
          <p:nvPr/>
        </p:nvSpPr>
        <p:spPr>
          <a:xfrm>
            <a:off x="3602355" y="3345180"/>
            <a:ext cx="91440" cy="91440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3810000" y="3297555"/>
            <a:ext cx="1217866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高速公路/自驾</a:t>
            </a:r>
          </a:p>
        </p:txBody>
      </p:sp>
      <p:sp>
        <p:nvSpPr>
          <p:cNvPr id="34" name="Ellipse 34"/>
          <p:cNvSpPr/>
          <p:nvPr/>
        </p:nvSpPr>
        <p:spPr>
          <a:xfrm>
            <a:off x="3602355" y="3859530"/>
            <a:ext cx="91440" cy="91440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3810000" y="3811905"/>
            <a:ext cx="1859280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虚拟节点连接多层网络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38875" y="1524000"/>
            <a:ext cx="2381250" cy="3143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37"/>
          <p:cNvSpPr/>
          <p:nvPr/>
        </p:nvSpPr>
        <p:spPr>
          <a:xfrm>
            <a:off x="6238875" y="1524000"/>
            <a:ext cx="2381250" cy="495300"/>
          </a:xfrm>
          <a:prstGeom prst="roundRect">
            <a:avLst>
              <a:gd name="adj" fmla="val 11538"/>
            </a:avLst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6989445" y="1627822"/>
            <a:ext cx="107375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模型计算</a:t>
            </a:r>
          </a:p>
        </p:txBody>
      </p:sp>
      <p:sp>
        <p:nvSpPr>
          <p:cNvPr id="39" name="Ellipse 39"/>
          <p:cNvSpPr/>
          <p:nvPr/>
        </p:nvSpPr>
        <p:spPr>
          <a:xfrm>
            <a:off x="6459855" y="2316480"/>
            <a:ext cx="91440" cy="91440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6667500" y="2268855"/>
            <a:ext cx="1889093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时间与费用合成广义成本</a:t>
            </a:r>
          </a:p>
        </p:txBody>
      </p:sp>
      <p:sp>
        <p:nvSpPr>
          <p:cNvPr id="41" name="Ellipse 41"/>
          <p:cNvSpPr/>
          <p:nvPr/>
        </p:nvSpPr>
        <p:spPr>
          <a:xfrm>
            <a:off x="6459855" y="2830830"/>
            <a:ext cx="91440" cy="91440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6667500" y="2783205"/>
            <a:ext cx="743712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规则约束</a:t>
            </a:r>
          </a:p>
        </p:txBody>
      </p:sp>
      <p:sp>
        <p:nvSpPr>
          <p:cNvPr id="43" name="Ellipse 43"/>
          <p:cNvSpPr/>
          <p:nvPr/>
        </p:nvSpPr>
        <p:spPr>
          <a:xfrm>
            <a:off x="6459855" y="3345180"/>
            <a:ext cx="91440" cy="91440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6667500" y="3297555"/>
            <a:ext cx="1041178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OD 阻抗矩阵</a:t>
            </a:r>
          </a:p>
        </p:txBody>
      </p:sp>
      <p:sp>
        <p:nvSpPr>
          <p:cNvPr id="45" name="Ellipse 45"/>
          <p:cNvSpPr/>
          <p:nvPr/>
        </p:nvSpPr>
        <p:spPr>
          <a:xfrm>
            <a:off x="6459855" y="3859530"/>
            <a:ext cx="91440" cy="91440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6667500" y="3811905"/>
            <a:ext cx="901732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累计机会 +</a:t>
            </a:r>
          </a:p>
        </p:txBody>
      </p:sp>
      <p:sp>
        <p:nvSpPr>
          <p:cNvPr id="47" name="Rectangle 47"/>
          <p:cNvSpPr/>
          <p:nvPr/>
        </p:nvSpPr>
        <p:spPr>
          <a:xfrm>
            <a:off x="9096375" y="1524000"/>
            <a:ext cx="2381250" cy="3143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9096375" y="1524000"/>
            <a:ext cx="2381250" cy="495300"/>
          </a:xfrm>
          <a:prstGeom prst="roundRect">
            <a:avLst>
              <a:gd name="adj" fmla="val 11538"/>
            </a:avLst>
          </a:prstGeom>
          <a:solidFill>
            <a:srgbClr val="4E8C4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9846945" y="1627822"/>
            <a:ext cx="107375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结果解释</a:t>
            </a:r>
          </a:p>
        </p:txBody>
      </p:sp>
      <p:sp>
        <p:nvSpPr>
          <p:cNvPr id="50" name="Ellipse 50"/>
          <p:cNvSpPr/>
          <p:nvPr/>
        </p:nvSpPr>
        <p:spPr>
          <a:xfrm>
            <a:off x="9317355" y="2316480"/>
            <a:ext cx="91440" cy="91440"/>
          </a:xfrm>
          <a:prstGeom prst="ellipse">
            <a:avLst/>
          </a:prstGeom>
          <a:solidFill>
            <a:srgbClr val="4E8C4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9525000" y="2268855"/>
            <a:ext cx="1673352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模式份额与接驳关系</a:t>
            </a:r>
          </a:p>
        </p:txBody>
      </p:sp>
      <p:sp>
        <p:nvSpPr>
          <p:cNvPr id="52" name="Ellipse 52"/>
          <p:cNvSpPr/>
          <p:nvPr/>
        </p:nvSpPr>
        <p:spPr>
          <a:xfrm>
            <a:off x="9317355" y="2830830"/>
            <a:ext cx="91440" cy="91440"/>
          </a:xfrm>
          <a:prstGeom prst="ellipse">
            <a:avLst/>
          </a:prstGeom>
          <a:solidFill>
            <a:srgbClr val="4E8C4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Box 53"/>
          <p:cNvSpPr txBox="1"/>
          <p:nvPr/>
        </p:nvSpPr>
        <p:spPr>
          <a:xfrm>
            <a:off x="9525000" y="2783205"/>
            <a:ext cx="1301496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空间可达性分布</a:t>
            </a:r>
          </a:p>
        </p:txBody>
      </p:sp>
      <p:sp>
        <p:nvSpPr>
          <p:cNvPr id="54" name="Ellipse 54"/>
          <p:cNvSpPr/>
          <p:nvPr/>
        </p:nvSpPr>
        <p:spPr>
          <a:xfrm>
            <a:off x="9317355" y="3345180"/>
            <a:ext cx="91440" cy="91440"/>
          </a:xfrm>
          <a:prstGeom prst="ellipse">
            <a:avLst/>
          </a:prstGeom>
          <a:solidFill>
            <a:srgbClr val="4E8C4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Box 55"/>
          <p:cNvSpPr txBox="1"/>
          <p:nvPr/>
        </p:nvSpPr>
        <p:spPr>
          <a:xfrm>
            <a:off x="9525000" y="3297555"/>
            <a:ext cx="1264348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有/无 HSR 对比</a:t>
            </a:r>
          </a:p>
        </p:txBody>
      </p:sp>
      <p:sp>
        <p:nvSpPr>
          <p:cNvPr id="56" name="Ellipse 56"/>
          <p:cNvSpPr/>
          <p:nvPr/>
        </p:nvSpPr>
        <p:spPr>
          <a:xfrm>
            <a:off x="9317355" y="3859530"/>
            <a:ext cx="91440" cy="91440"/>
          </a:xfrm>
          <a:prstGeom prst="ellipse">
            <a:avLst/>
          </a:prstGeom>
          <a:solidFill>
            <a:srgbClr val="4E8C4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9525000" y="3811905"/>
            <a:ext cx="1889093" cy="21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door-to-door</a:t>
            </a:r>
          </a:p>
        </p:txBody>
      </p:sp>
      <p:sp>
        <p:nvSpPr>
          <p:cNvPr id="58" name="Line 58"/>
          <p:cNvSpPr/>
          <p:nvPr/>
        </p:nvSpPr>
        <p:spPr>
          <a:xfrm>
            <a:off x="2981325" y="3095625"/>
            <a:ext cx="419100" cy="1"/>
          </a:xfrm>
          <a:prstGeom prst="line">
            <a:avLst/>
          </a:prstGeom>
          <a:noFill/>
          <a:ln w="23812">
            <a:solidFill>
              <a:srgbClr val="1F5C8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Polygon 59"/>
          <p:cNvSpPr/>
          <p:nvPr/>
        </p:nvSpPr>
        <p:spPr>
          <a:xfrm>
            <a:off x="3297555" y="3046095"/>
            <a:ext cx="102870" cy="99060"/>
          </a:xfrm>
          <a:custGeom>
            <a:avLst/>
            <a:gdLst/>
            <a:ahLst/>
            <a:cxnLst/>
            <a:rect l="l" t="t" r="r" b="b"/>
            <a:pathLst>
              <a:path w="102870" h="99060">
                <a:moveTo>
                  <a:pt x="102870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60"/>
          <p:cNvSpPr/>
          <p:nvPr/>
        </p:nvSpPr>
        <p:spPr>
          <a:xfrm>
            <a:off x="5838825" y="3095625"/>
            <a:ext cx="419100" cy="1"/>
          </a:xfrm>
          <a:prstGeom prst="line">
            <a:avLst/>
          </a:prstGeom>
          <a:noFill/>
          <a:ln w="23812">
            <a:solidFill>
              <a:srgbClr val="1F5C8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Polygon 61"/>
          <p:cNvSpPr/>
          <p:nvPr/>
        </p:nvSpPr>
        <p:spPr>
          <a:xfrm>
            <a:off x="6155055" y="3046095"/>
            <a:ext cx="102870" cy="99060"/>
          </a:xfrm>
          <a:custGeom>
            <a:avLst/>
            <a:gdLst/>
            <a:ahLst/>
            <a:cxnLst/>
            <a:rect l="l" t="t" r="r" b="b"/>
            <a:pathLst>
              <a:path w="102870" h="99060">
                <a:moveTo>
                  <a:pt x="102870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2"/>
          <p:cNvSpPr/>
          <p:nvPr/>
        </p:nvSpPr>
        <p:spPr>
          <a:xfrm>
            <a:off x="8696325" y="3095625"/>
            <a:ext cx="419100" cy="1"/>
          </a:xfrm>
          <a:prstGeom prst="line">
            <a:avLst/>
          </a:prstGeom>
          <a:noFill/>
          <a:ln w="23812">
            <a:solidFill>
              <a:srgbClr val="1F5C8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Polygon 63"/>
          <p:cNvSpPr/>
          <p:nvPr/>
        </p:nvSpPr>
        <p:spPr>
          <a:xfrm>
            <a:off x="9012555" y="3046095"/>
            <a:ext cx="102870" cy="99060"/>
          </a:xfrm>
          <a:custGeom>
            <a:avLst/>
            <a:gdLst/>
            <a:ahLst/>
            <a:cxnLst/>
            <a:rect l="l" t="t" r="r" b="b"/>
            <a:pathLst>
              <a:path w="102870" h="99060">
                <a:moveTo>
                  <a:pt x="102870" y="49530"/>
                </a:moveTo>
                <a:lnTo>
                  <a:pt x="0" y="99060"/>
                </a:lnTo>
                <a:lnTo>
                  <a:pt x="0" y="0"/>
                </a:lnTo>
                <a:close/>
              </a:path>
            </a:pathLst>
          </a:cu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64"/>
          <p:cNvSpPr/>
          <p:nvPr/>
        </p:nvSpPr>
        <p:spPr>
          <a:xfrm>
            <a:off x="1143000" y="5095875"/>
            <a:ext cx="9525000" cy="609600"/>
          </a:xfrm>
          <a:prstGeom prst="roundRect">
            <a:avLst>
              <a:gd name="adj" fmla="val 9375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Box 65"/>
          <p:cNvSpPr txBox="1"/>
          <p:nvPr/>
        </p:nvSpPr>
        <p:spPr>
          <a:xfrm>
            <a:off x="1428750" y="5276374"/>
            <a:ext cx="1024890" cy="275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75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核心闭环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571750" y="5183981"/>
            <a:ext cx="803271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用真实多层网络产生阻抗矩阵，再用阻抗矩阵评价 HSR 带来的可达人口变化；变化值比静态可达性更容易暴露网络建模偏差。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Method Framework: 多模式多尺度网络建模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虚拟节点把城市内部网络和城际网络连接起来，使跨方式换乘可以被显式计算。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7345" y="65131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3 Method Framework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409700"/>
            <a:ext cx="5905500" cy="3381375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43038"/>
            <a:ext cx="5905500" cy="3315652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6858000" y="1409700"/>
            <a:ext cx="3905250" cy="3381375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143750" y="1607820"/>
            <a:ext cx="1171384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网络层级</a:t>
            </a:r>
          </a:p>
        </p:txBody>
      </p:sp>
      <p:sp>
        <p:nvSpPr>
          <p:cNvPr id="18" name="Ellipse 18"/>
          <p:cNvSpPr/>
          <p:nvPr/>
        </p:nvSpPr>
        <p:spPr>
          <a:xfrm>
            <a:off x="7167562" y="214788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7372350" y="2086928"/>
            <a:ext cx="33273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城市内部：道路、公交、 地铁等起讫端接驳网络。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7167562" y="273843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7372350" y="2677478"/>
            <a:ext cx="33273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城际层：HSR、GR、 城际公交、</a:t>
            </a:r>
          </a:p>
        </p:txBody>
      </p:sp>
      <p:sp>
        <p:nvSpPr>
          <p:cNvPr id="22" name="Ellipse 22"/>
          <p:cNvSpPr/>
          <p:nvPr/>
        </p:nvSpPr>
        <p:spPr>
          <a:xfrm>
            <a:off x="7167562" y="332898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7372350" y="3268028"/>
            <a:ext cx="33273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虚拟节点： 在交通枢纽处连接不同网络层，</a:t>
            </a:r>
          </a:p>
        </p:txBody>
      </p:sp>
      <p:sp>
        <p:nvSpPr>
          <p:cNvPr id="24" name="Ellipse 24"/>
          <p:cNvSpPr/>
          <p:nvPr/>
        </p:nvSpPr>
        <p:spPr>
          <a:xfrm>
            <a:off x="7167562" y="391953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372350" y="3858578"/>
            <a:ext cx="33273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优势： 可同时识别竞争路径与互补接驳路径。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57250" y="5124450"/>
            <a:ext cx="9525000" cy="523875"/>
          </a:xfrm>
          <a:prstGeom prst="roundRect">
            <a:avLst>
              <a:gd name="adj" fmla="val 10909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143000" y="5267801"/>
            <a:ext cx="9175718" cy="2506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25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例：西安高铁站周边可把自驾、公交、</a:t>
            </a:r>
            <a:r>
              <a:rPr lang="zh-CN" altLang="en-US" sz="1425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地铁等交通方式串联成复杂网络，并考虑步行成本。</a:t>
            </a:r>
            <a:endParaRPr lang="zh-CN" sz="1425" b="1" dirty="0">
              <a:solidFill>
                <a:srgbClr val="1F2933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Method Framework: 广义出行成本统一时间与费用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单模式和多模式路径都被转化为总时间、总费用，再进入广义成本函数。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7345" y="65131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3 Method Framework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43" y="6497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52450" y="1381125"/>
            <a:ext cx="5429250" cy="28575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567815"/>
            <a:ext cx="5429250" cy="2485072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6429375" y="1381125"/>
            <a:ext cx="4191000" cy="2857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6762750" y="1635919"/>
            <a:ext cx="1830229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75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核心成本函数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095500"/>
            <a:ext cx="3476625" cy="723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762750" y="2963228"/>
            <a:ext cx="3794093" cy="677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其中时间价值用于把路径总时间转换为货币单位。 本文基准采用区域固定 VoTT， 使宏观规划评价更易解释。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0100" y="4667250"/>
            <a:ext cx="2428875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047750" y="4809172"/>
            <a:ext cx="1342168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1F5C8A"/>
                </a:solidFill>
                <a:latin typeface="Arial"/>
                <a:ea typeface="Microsoft YaHei"/>
                <a:cs typeface="Arial"/>
              </a:rPr>
              <a:t>单模式路径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5981" y="5063490"/>
            <a:ext cx="2117693" cy="567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如全程自驾或全程公交， 总时间和总费用直接沿路径累加。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638550" y="4667250"/>
            <a:ext cx="3190875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3905250" y="4809172"/>
            <a:ext cx="2147506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0F7C7A"/>
                </a:solidFill>
                <a:latin typeface="Arial"/>
                <a:ea typeface="Microsoft YaHei"/>
                <a:cs typeface="Arial"/>
              </a:rPr>
              <a:t>多模式多尺度路径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05250" y="5057108"/>
            <a:ext cx="2860643" cy="384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分为起点城市接驳、 城际段、终点城市接驳，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239000" y="4667250"/>
            <a:ext cx="3190875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505700" y="4809172"/>
            <a:ext cx="107375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阻抗输出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5700" y="5057108"/>
            <a:ext cx="2860643" cy="384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每个 OD 对得到最低广义成本、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Method Framework: 规则约束路径搜索避免不可行换乘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在传统最短路外增加行为规则，使最低成本路径不变成现实中不合理的频繁换乘。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7345" y="65131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3 Method Framework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352550"/>
            <a:ext cx="3190875" cy="3190875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352550"/>
            <a:ext cx="3125152" cy="3190875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4000500" y="1352550"/>
            <a:ext cx="366712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462088"/>
            <a:ext cx="3667125" cy="1590675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4000500" y="3333750"/>
            <a:ext cx="3667125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922" y="3333750"/>
            <a:ext cx="3002280" cy="1714500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7953375" y="1352550"/>
            <a:ext cx="3048000" cy="371475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239125" y="1522095"/>
            <a:ext cx="1171384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算法逻辑</a:t>
            </a:r>
          </a:p>
        </p:txBody>
      </p:sp>
      <p:sp>
        <p:nvSpPr>
          <p:cNvPr id="22" name="Ellipse 22"/>
          <p:cNvSpPr/>
          <p:nvPr/>
        </p:nvSpPr>
        <p:spPr>
          <a:xfrm>
            <a:off x="8262938" y="202406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467725" y="1973104"/>
            <a:ext cx="24701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先在基本多模式图上搜索最短路径。</a:t>
            </a:r>
          </a:p>
        </p:txBody>
      </p:sp>
      <p:sp>
        <p:nvSpPr>
          <p:cNvPr id="24" name="Ellipse 24"/>
          <p:cNvSpPr/>
          <p:nvPr/>
        </p:nvSpPr>
        <p:spPr>
          <a:xfrm>
            <a:off x="8262938" y="258603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467725" y="2535079"/>
            <a:ext cx="24701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检查是否违反换乘次数与模式顺序规则。</a:t>
            </a:r>
          </a:p>
        </p:txBody>
      </p:sp>
      <p:sp>
        <p:nvSpPr>
          <p:cNvPr id="26" name="Ellipse 26"/>
          <p:cNvSpPr/>
          <p:nvPr/>
        </p:nvSpPr>
        <p:spPr>
          <a:xfrm>
            <a:off x="8262938" y="31480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8467725" y="3097054"/>
            <a:ext cx="2470118" cy="6408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若违反， 则在受约束子图中重新搜索并组合候选路径。</a:t>
            </a:r>
          </a:p>
        </p:txBody>
      </p:sp>
      <p:sp>
        <p:nvSpPr>
          <p:cNvPr id="28" name="Ellipse 28"/>
          <p:cNvSpPr/>
          <p:nvPr/>
        </p:nvSpPr>
        <p:spPr>
          <a:xfrm>
            <a:off x="8262938" y="370998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8467725" y="3659029"/>
            <a:ext cx="2470118" cy="6408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输出满足规则且广义成本最低的路径 R。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14375" y="5238750"/>
            <a:ext cx="10096500" cy="476250"/>
          </a:xfrm>
          <a:prstGeom prst="roundRect">
            <a:avLst>
              <a:gd name="adj" fmla="val 12000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000125" y="5353526"/>
            <a:ext cx="9747218" cy="2506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r>
              <a:rPr lang="zh-CN" sz="1425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关键点：规则约束不是</a:t>
            </a:r>
            <a:r>
              <a:rPr lang="zh-CN" sz="140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替代 Dijkstra，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本文加入换乘次数和模式顺序规则，避免不可行路线污染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OD 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阻抗矩阵。</a:t>
            </a:r>
            <a:endParaRPr lang="zh-CN" sz="1400" b="1" dirty="0">
              <a:solidFill>
                <a:srgbClr val="1F29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 Method Framework: 累计机会指标与成本加权可达性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OD 阻抗矩阵生成后，按成本阈值统计可达人口，并用衰减函数合成为综合指标。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7345" y="65131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3 Method Framework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10553" y="6497002"/>
            <a:ext cx="1232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81125"/>
            <a:ext cx="4000500" cy="2428875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69720"/>
            <a:ext cx="4000500" cy="2051685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4953000" y="1381125"/>
            <a:ext cx="5381625" cy="242887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5238750" y="1569720"/>
            <a:ext cx="1756982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累计机会测度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2076450"/>
            <a:ext cx="4429125" cy="923925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238750" y="3153728"/>
            <a:ext cx="5032343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含义： 当某目的地与起点之间的广义成本小于阈值，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4429125"/>
            <a:ext cx="35242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381125" y="4600099"/>
            <a:ext cx="1024890" cy="275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75" b="1" dirty="0">
                <a:solidFill>
                  <a:srgbClr val="1F5C8A"/>
                </a:solidFill>
                <a:latin typeface="Arial"/>
                <a:ea typeface="Microsoft YaHei"/>
                <a:cs typeface="Arial"/>
              </a:rPr>
              <a:t>阈值序列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1125" y="4812011"/>
            <a:ext cx="3222593" cy="384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50 / 100 / 150 / 200 CNY 等成本阈值形成多尺度评价。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048250" y="4429125"/>
            <a:ext cx="35242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5286375" y="4600099"/>
            <a:ext cx="1024890" cy="275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75" b="1" dirty="0">
                <a:solidFill>
                  <a:srgbClr val="0F7C7A"/>
                </a:solidFill>
                <a:latin typeface="Arial"/>
                <a:ea typeface="Microsoft YaHei"/>
                <a:cs typeface="Arial"/>
              </a:rPr>
              <a:t>成本加权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86375" y="4843385"/>
            <a:ext cx="3222593" cy="384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用迁徙数据校准衰减函数， 把近距离机会赋予更高权重。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953500" y="4429125"/>
            <a:ext cx="200025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9191625" y="4600099"/>
            <a:ext cx="512445" cy="275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75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91625" y="4812011"/>
            <a:ext cx="1698593" cy="384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12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县域可达人口与 HSR 影响值。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Model Results: 最低成本路径揭示模式竞争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HSR 并非所有 OD 的最低成本选择，GR、自驾和公交在不同成本区间承担不同功能。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4937" y="65131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4 Model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81125"/>
            <a:ext cx="6572250" cy="3000375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88770"/>
            <a:ext cx="6572250" cy="2584132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7524750" y="1381125"/>
            <a:ext cx="3333750" cy="3000375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810500" y="1569720"/>
            <a:ext cx="1171384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关键读图</a:t>
            </a:r>
          </a:p>
        </p:txBody>
      </p:sp>
      <p:sp>
        <p:nvSpPr>
          <p:cNvPr id="18" name="Ellipse 18"/>
          <p:cNvSpPr/>
          <p:nvPr/>
        </p:nvSpPr>
        <p:spPr>
          <a:xfrm>
            <a:off x="7834312" y="21193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8039100" y="2058352"/>
            <a:ext cx="27558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HSR 最低成本比例约 15%，</a:t>
            </a:r>
          </a:p>
        </p:txBody>
      </p:sp>
      <p:sp>
        <p:nvSpPr>
          <p:cNvPr id="20" name="Ellipse 20"/>
          <p:cNvSpPr/>
          <p:nvPr/>
        </p:nvSpPr>
        <p:spPr>
          <a:xfrm>
            <a:off x="7834312" y="27670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039100" y="2706052"/>
            <a:ext cx="27558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GR 覆盖广、票价低， 是中长距离城际出行的重要支撑。</a:t>
            </a:r>
          </a:p>
        </p:txBody>
      </p:sp>
      <p:sp>
        <p:nvSpPr>
          <p:cNvPr id="22" name="Ellipse 22"/>
          <p:cNvSpPr/>
          <p:nvPr/>
        </p:nvSpPr>
        <p:spPr>
          <a:xfrm>
            <a:off x="7834312" y="34147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039100" y="3353752"/>
            <a:ext cx="2755868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短距离 OD 中公交优势明显；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810125"/>
            <a:ext cx="9906000" cy="666750"/>
          </a:xfrm>
          <a:prstGeom prst="roundRect">
            <a:avLst>
              <a:gd name="adj" fmla="val 8571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1143000" y="5009674"/>
            <a:ext cx="512445" cy="275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75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解释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52625" y="5019675"/>
            <a:ext cx="8747093" cy="26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r>
              <a:rPr lang="zh-CN" sz="150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高铁优势取决于站点覆盖、接驳成本和替代方式，</a:t>
            </a:r>
            <a:r>
              <a:rPr lang="zh-CN" altLang="en-US" sz="150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否则</a:t>
            </a:r>
            <a:r>
              <a:rPr lang="zh-CN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会限制它成为最优路径的频率。</a:t>
            </a:r>
            <a:endParaRPr lang="zh-CN" sz="1500" b="1" dirty="0">
              <a:solidFill>
                <a:srgbClr val="1F29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Model Results: 多阈值可达性呈现西安核心集聚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成本阈值越高，暖色可达区越外扩；远离 HSR 网络的县域仍保持较低可达性。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4937" y="65131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4 Model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333500"/>
            <a:ext cx="7096125" cy="4095750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5" y="1333500"/>
            <a:ext cx="6350318" cy="409575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7953375" y="1333500"/>
            <a:ext cx="3095625" cy="409575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8239125" y="1522095"/>
            <a:ext cx="1171384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空间格局</a:t>
            </a:r>
          </a:p>
        </p:txBody>
      </p:sp>
      <p:sp>
        <p:nvSpPr>
          <p:cNvPr id="18" name="Ellipse 18"/>
          <p:cNvSpPr/>
          <p:nvPr/>
        </p:nvSpPr>
        <p:spPr>
          <a:xfrm>
            <a:off x="8262938" y="207168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8467725" y="2020729"/>
            <a:ext cx="2517743" cy="6408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西安及毗邻城市可达性最高， 因为人口机会和交通网络密度共同集中。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8262938" y="285273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8467725" y="2801779"/>
            <a:ext cx="2517743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成本阈值从低到高时， 可达人口范围快速扩展。</a:t>
            </a:r>
          </a:p>
        </p:txBody>
      </p:sp>
      <p:sp>
        <p:nvSpPr>
          <p:cNvPr id="22" name="Ellipse 22"/>
          <p:cNvSpPr/>
          <p:nvPr/>
        </p:nvSpPr>
        <p:spPr>
          <a:xfrm>
            <a:off x="8262938" y="3633788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467725" y="3582829"/>
            <a:ext cx="2517743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200 CNY 阈值下多数县区可达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Model Results: 传统方法低估整体城际可达性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多模式网络的平均可达人口高于传统 door-to-door 方法，但两者空间分布仍高度相关。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4937" y="65131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4 Model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333500"/>
            <a:ext cx="6858000" cy="4095750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48" y="1333500"/>
            <a:ext cx="5774055" cy="409575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7762875" y="1333500"/>
            <a:ext cx="3190875" cy="409575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8048625" y="1550670"/>
            <a:ext cx="1171384" cy="3116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800" b="1" dirty="0">
                <a:solidFill>
                  <a:srgbClr val="123B5D"/>
                </a:solidFill>
                <a:latin typeface="Arial"/>
                <a:ea typeface="Microsoft YaHei"/>
                <a:cs typeface="Arial"/>
              </a:rPr>
              <a:t>比较结果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48625" y="2095500"/>
            <a:ext cx="2571750" cy="81915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8220075" y="2195512"/>
            <a:ext cx="2336768" cy="385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2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424 vs. 268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0075" y="2485930"/>
            <a:ext cx="2336768" cy="4091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人口加权平均可达人口： 多模式网络高于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48625" y="3105150"/>
            <a:ext cx="2571750" cy="81915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8220075" y="3205162"/>
            <a:ext cx="1427607" cy="3857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250" b="1" dirty="0">
                <a:solidFill>
                  <a:srgbClr val="1F5C8A"/>
                </a:solidFill>
                <a:latin typeface="Arial"/>
                <a:ea typeface="Microsoft YaHei"/>
                <a:cs typeface="Arial"/>
              </a:rPr>
              <a:t>r = 0.93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22738" y="3502066"/>
            <a:ext cx="2336768" cy="4091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两种方法对静态可达性的空间排序仍较接近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48625" y="4163854"/>
            <a:ext cx="2841593" cy="1055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偏差来源： 传统方法把接驳过度简化为自驾， 并采用分段式最短路， 低估了公交、 普通铁路等模式的连接作用。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 Model Results: HSR 改善沿线与远端可达性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有无 HSR 的对比显示，高铁影响随成本阈值扩散；变化量比静态值更依赖网络配置。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4937" y="65131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4 Model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76250" y="1304925"/>
            <a:ext cx="5429250" cy="314325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" y="1304925"/>
            <a:ext cx="4945380" cy="314325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6191250" y="1304925"/>
            <a:ext cx="4762500" cy="314325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795" y="1304925"/>
            <a:ext cx="4424362" cy="3143250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666750" y="4810125"/>
            <a:ext cx="10334625" cy="742950"/>
          </a:xfrm>
          <a:prstGeom prst="roundRect">
            <a:avLst>
              <a:gd name="adj" fmla="val 7692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952500" y="4999672"/>
            <a:ext cx="107375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主要发现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95500" y="5031581"/>
            <a:ext cx="8842343" cy="4579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小阈值下 HSR 影响集中在沿线县域；阈值升高后，远端县域也获得辐射效应。 更重要的是，HSR 改善值的两方法相关系数仅 0.68</a:t>
            </a:r>
            <a:r>
              <a:rPr lang="zh-CN" altLang="en-US" sz="135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。</a:t>
            </a:r>
            <a:endParaRPr lang="zh-CN" sz="1350" b="1" dirty="0">
              <a:solidFill>
                <a:srgbClr val="1F2933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06946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63532"/>
            <a:ext cx="11766518" cy="579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Robustness And Validation: VoTT 敏感性与人工标注验证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人工路径标注和 VoTT 扰动均支持主结论；经济发展会强化 HSR 时间节省优势。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07175" y="651319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5 Robustness And 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8625" y="1285875"/>
            <a:ext cx="3905250" cy="2428875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1285875"/>
            <a:ext cx="3817620" cy="2428875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4619625" y="1285875"/>
            <a:ext cx="3714750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306830"/>
            <a:ext cx="3714750" cy="1767840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4619625" y="3286125"/>
            <a:ext cx="3714750" cy="1666875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12" y="3286125"/>
            <a:ext cx="3686175" cy="1666875"/>
          </a:xfrm>
          <a:prstGeom prst="rect">
            <a:avLst/>
          </a:prstGeom>
        </p:spPr>
      </p:pic>
      <p:sp>
        <p:nvSpPr>
          <p:cNvPr id="20" name="Rectangle 20"/>
          <p:cNvSpPr/>
          <p:nvPr/>
        </p:nvSpPr>
        <p:spPr>
          <a:xfrm>
            <a:off x="8620125" y="1285875"/>
            <a:ext cx="2381250" cy="2428875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125" y="1958340"/>
            <a:ext cx="2381250" cy="1084898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428625" y="4095750"/>
            <a:ext cx="39052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66750" y="4285202"/>
            <a:ext cx="3603593" cy="6042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VoTT 从 +0% 到 +100% 时，HSR 对人口加权平均可达性的相对提升增加， 说明收入增长背景下时间节省价值更突出。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620125" y="4095750"/>
            <a:ext cx="238125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858250" y="4256722"/>
            <a:ext cx="2079593" cy="287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5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RMSE ≈ 11.58%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58250" y="4529042"/>
            <a:ext cx="2079593" cy="360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人工标注与算法趋势一致。 随机 VoTT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286375"/>
            <a:ext cx="9715500" cy="400050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190625" y="5363528"/>
            <a:ext cx="9366218" cy="2385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r>
              <a:rPr lang="zh-CN" sz="135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稳健性含义：固定 VoTT 适合宏观规划评价；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同时用波动模拟显示可达性总体稳定，但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HSR 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影响对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VoTT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更敏感。</a:t>
            </a:r>
            <a:endParaRPr lang="zh-CN" sz="1400" b="1" dirty="0">
              <a:solidFill>
                <a:srgbClr val="1F29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76200" cy="6858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61950" y="158591"/>
            <a:ext cx="11766518" cy="348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0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Summary: 贡献、局限与交通规划启示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77450" y="258604"/>
            <a:ext cx="1244536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交通学术汇报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5800"/>
            <a:ext cx="12192000" cy="400050"/>
          </a:xfrm>
          <a:prstGeom prst="rect">
            <a:avLst/>
          </a:prstGeom>
          <a:solidFill>
            <a:srgbClr val="EAF3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0" y="685800"/>
            <a:ext cx="76200" cy="400050"/>
          </a:xfrm>
          <a:prstGeom prst="rect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61950" y="772954"/>
            <a:ext cx="117665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本文贡献在于更真实地配置综合交通网络，从而减少高铁投资评价中的系统性偏差。</a:t>
            </a:r>
          </a:p>
        </p:txBody>
      </p:sp>
      <p:sp>
        <p:nvSpPr>
          <p:cNvPr id="10" name="Line 10"/>
          <p:cNvSpPr/>
          <p:nvPr/>
        </p:nvSpPr>
        <p:spPr>
          <a:xfrm>
            <a:off x="361950" y="6324600"/>
            <a:ext cx="11449050" cy="1"/>
          </a:xfrm>
          <a:prstGeom prst="line">
            <a:avLst/>
          </a:prstGeom>
          <a:noFill/>
          <a:ln w="9525">
            <a:solidFill>
              <a:srgbClr val="E5ECF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0520" y="65131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05249" y="6513195"/>
            <a:ext cx="581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A8794"/>
                </a:solidFill>
                <a:latin typeface="Arial"/>
                <a:ea typeface="Microsoft YaHei"/>
                <a:cs typeface="Arial"/>
              </a:rPr>
              <a:t>Summary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70298" y="6497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66788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9125" y="1476375"/>
            <a:ext cx="3333750" cy="371475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619125" y="1476375"/>
            <a:ext cx="3333750" cy="533400"/>
          </a:xfrm>
          <a:prstGeom prst="roundRect">
            <a:avLst>
              <a:gd name="adj" fmla="val 10714"/>
            </a:avLst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825942" y="1598771"/>
            <a:ext cx="1122521" cy="299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主要贡献</a:t>
            </a:r>
          </a:p>
        </p:txBody>
      </p:sp>
      <p:sp>
        <p:nvSpPr>
          <p:cNvPr id="17" name="Ellipse 17"/>
          <p:cNvSpPr/>
          <p:nvPr/>
        </p:nvSpPr>
        <p:spPr>
          <a:xfrm>
            <a:off x="909638" y="23098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1114425" y="22588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提出多模式、 多尺度城际可达性框架</a:t>
            </a:r>
          </a:p>
        </p:txBody>
      </p:sp>
      <p:sp>
        <p:nvSpPr>
          <p:cNvPr id="19" name="Ellipse 19"/>
          <p:cNvSpPr/>
          <p:nvPr/>
        </p:nvSpPr>
        <p:spPr>
          <a:xfrm>
            <a:off x="909638" y="29575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114425" y="2906554"/>
            <a:ext cx="27749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把时间与费用统一为广义成本</a:t>
            </a:r>
          </a:p>
        </p:txBody>
      </p:sp>
      <p:sp>
        <p:nvSpPr>
          <p:cNvPr id="21" name="Ellipse 21"/>
          <p:cNvSpPr/>
          <p:nvPr/>
        </p:nvSpPr>
        <p:spPr>
          <a:xfrm>
            <a:off x="909638" y="36052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114425" y="3554254"/>
            <a:ext cx="27749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用规则约束路径搜索修正不可行换乘</a:t>
            </a:r>
          </a:p>
        </p:txBody>
      </p:sp>
      <p:sp>
        <p:nvSpPr>
          <p:cNvPr id="23" name="Ellipse 23"/>
          <p:cNvSpPr/>
          <p:nvPr/>
        </p:nvSpPr>
        <p:spPr>
          <a:xfrm>
            <a:off x="909638" y="4252912"/>
            <a:ext cx="104775" cy="104775"/>
          </a:xfrm>
          <a:prstGeom prst="ellipse">
            <a:avLst/>
          </a:prstGeom>
          <a:solidFill>
            <a:srgbClr val="1F5C8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114425" y="42019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证明变化评价比静态评价更依赖网络建模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81500" y="1476375"/>
            <a:ext cx="3333750" cy="371475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4381500" y="1476375"/>
            <a:ext cx="3333750" cy="533400"/>
          </a:xfrm>
          <a:prstGeom prst="roundRect">
            <a:avLst>
              <a:gd name="adj" fmla="val 10714"/>
            </a:avLst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5588318" y="1598771"/>
            <a:ext cx="1122521" cy="299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局限边界</a:t>
            </a:r>
          </a:p>
        </p:txBody>
      </p:sp>
      <p:sp>
        <p:nvSpPr>
          <p:cNvPr id="28" name="Ellipse 28"/>
          <p:cNvSpPr/>
          <p:nvPr/>
        </p:nvSpPr>
        <p:spPr>
          <a:xfrm>
            <a:off x="4672012" y="2309812"/>
            <a:ext cx="104775" cy="104775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4876800" y="22588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VoTT 采用宏观固定值， 难以解释个体异质性</a:t>
            </a:r>
          </a:p>
        </p:txBody>
      </p:sp>
      <p:sp>
        <p:nvSpPr>
          <p:cNvPr id="30" name="Ellipse 30"/>
          <p:cNvSpPr/>
          <p:nvPr/>
        </p:nvSpPr>
        <p:spPr>
          <a:xfrm>
            <a:off x="4672012" y="2957512"/>
            <a:ext cx="104775" cy="104775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4876800" y="2906554"/>
            <a:ext cx="2774918" cy="2263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未显式纳入班次频率与早晚服务约束</a:t>
            </a:r>
          </a:p>
        </p:txBody>
      </p:sp>
      <p:sp>
        <p:nvSpPr>
          <p:cNvPr id="32" name="Ellipse 32"/>
          <p:cNvSpPr/>
          <p:nvPr/>
        </p:nvSpPr>
        <p:spPr>
          <a:xfrm>
            <a:off x="4672012" y="3605212"/>
            <a:ext cx="104775" cy="104775"/>
          </a:xfrm>
          <a:prstGeom prst="ellipse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4876800" y="35542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规则仍是规划视角的简化， 未覆盖全部偏好因素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143875" y="1476375"/>
            <a:ext cx="3333750" cy="371475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5"/>
          <p:cNvSpPr/>
          <p:nvPr/>
        </p:nvSpPr>
        <p:spPr>
          <a:xfrm>
            <a:off x="8143875" y="1476375"/>
            <a:ext cx="3333750" cy="533400"/>
          </a:xfrm>
          <a:prstGeom prst="roundRect">
            <a:avLst>
              <a:gd name="adj" fmla="val 10714"/>
            </a:avLst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9350692" y="1598771"/>
            <a:ext cx="1122521" cy="299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规划启示</a:t>
            </a:r>
          </a:p>
        </p:txBody>
      </p:sp>
      <p:sp>
        <p:nvSpPr>
          <p:cNvPr id="37" name="Ellipse 37"/>
          <p:cNvSpPr/>
          <p:nvPr/>
        </p:nvSpPr>
        <p:spPr>
          <a:xfrm>
            <a:off x="8434388" y="2309812"/>
            <a:ext cx="104775" cy="104775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8639175" y="22588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高铁投资应与公交、 地铁、自驾接驳联合评价</a:t>
            </a:r>
          </a:p>
        </p:txBody>
      </p:sp>
      <p:sp>
        <p:nvSpPr>
          <p:cNvPr id="39" name="Ellipse 39"/>
          <p:cNvSpPr/>
          <p:nvPr/>
        </p:nvSpPr>
        <p:spPr>
          <a:xfrm>
            <a:off x="8434388" y="2957512"/>
            <a:ext cx="104775" cy="104775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40"/>
          <p:cNvSpPr txBox="1"/>
          <p:nvPr/>
        </p:nvSpPr>
        <p:spPr>
          <a:xfrm>
            <a:off x="8639175" y="29065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综合枢纽选址和布局可用可达性收益/公平性共同比较</a:t>
            </a:r>
          </a:p>
        </p:txBody>
      </p:sp>
      <p:sp>
        <p:nvSpPr>
          <p:cNvPr id="41" name="Ellipse 41"/>
          <p:cNvSpPr/>
          <p:nvPr/>
        </p:nvSpPr>
        <p:spPr>
          <a:xfrm>
            <a:off x="8434388" y="3605212"/>
            <a:ext cx="104775" cy="104775"/>
          </a:xfrm>
          <a:prstGeom prst="ellipse">
            <a:avLst/>
          </a:prstGeom>
          <a:solidFill>
            <a:srgbClr val="0F7C7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8639175" y="3554254"/>
            <a:ext cx="2774918" cy="4335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75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多模式项目比单一项目更需要精细网络配置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95375" y="5572125"/>
            <a:ext cx="9334500" cy="381000"/>
          </a:xfrm>
          <a:prstGeom prst="roundRect">
            <a:avLst>
              <a:gd name="adj" fmla="val 15000"/>
            </a:avLst>
          </a:prstGeom>
          <a:solidFill>
            <a:srgbClr val="F2F7FB"/>
          </a:solidFill>
          <a:ln w="9525">
            <a:solidFill>
              <a:srgbClr val="D8E1E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1381125" y="5639752"/>
            <a:ext cx="8985218" cy="2385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一句话总结：高铁不是孤立网络，评价高铁影响必须把“到站、换乘、</a:t>
            </a:r>
            <a:r>
              <a:rPr lang="zh-CN" altLang="en-US" sz="1350" b="1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在途、接驳”全部考虑。</a:t>
            </a:r>
            <a:endParaRPr lang="zh-CN" sz="1350" b="1" dirty="0">
              <a:solidFill>
                <a:srgbClr val="1F2933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72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8763000" y="95250"/>
            <a:ext cx="2286000" cy="2286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Ellipse 5"/>
          <p:cNvSpPr/>
          <p:nvPr/>
        </p:nvSpPr>
        <p:spPr>
          <a:xfrm>
            <a:off x="476250" y="4476750"/>
            <a:ext cx="2095500" cy="2095500"/>
          </a:xfrm>
          <a:prstGeom prst="ellipse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739140" y="805815"/>
            <a:ext cx="13982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755" y="1911668"/>
            <a:ext cx="2778824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谢谢大家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615" y="3058478"/>
            <a:ext cx="229933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欢迎批评指正</a:t>
            </a:r>
          </a:p>
        </p:txBody>
      </p:sp>
      <p:sp>
        <p:nvSpPr>
          <p:cNvPr id="9" name="Rectangle 9"/>
          <p:cNvSpPr/>
          <p:nvPr/>
        </p:nvSpPr>
        <p:spPr>
          <a:xfrm>
            <a:off x="7239000" y="2095500"/>
            <a:ext cx="3429000" cy="2000250"/>
          </a:xfrm>
          <a:prstGeom prst="roundRect">
            <a:avLst>
              <a:gd name="adj" fmla="val 2857"/>
            </a:avLst>
          </a:prstGeom>
          <a:solidFill>
            <a:srgbClr val="FFFFFF">
              <a:alpha val="96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7620000" y="2186940"/>
            <a:ext cx="1083469" cy="61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3600" b="1" dirty="0">
                <a:solidFill>
                  <a:srgbClr val="B72B36"/>
                </a:solidFill>
                <a:latin typeface="Arial"/>
                <a:ea typeface="Microsoft YaHei"/>
                <a:cs typeface="Arial"/>
              </a:rPr>
              <a:t>Q&amp;A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0" y="2793968"/>
            <a:ext cx="2984468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讨论重点可放在： 多模式网络建模、 路径约束规则、VoTT 设置， 以及高铁与接驳系统的联合评价。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6094095"/>
            <a:ext cx="44525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[1] Dai et al., Transportation Research Part C, 2025, Article 105006.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8560" y="6061710"/>
            <a:ext cx="186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DECF7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2357</Words>
  <Application>Microsoft Office PowerPoint</Application>
  <PresentationFormat>宽屏</PresentationFormat>
  <Paragraphs>257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玥程 王</cp:lastModifiedBy>
  <cp:revision>12</cp:revision>
  <dcterms:created xsi:type="dcterms:W3CDTF">2013-01-27T09:14:16Z</dcterms:created>
  <dcterms:modified xsi:type="dcterms:W3CDTF">2026-05-20T09:45:10Z</dcterms:modified>
  <cp:category/>
</cp:coreProperties>
</file>